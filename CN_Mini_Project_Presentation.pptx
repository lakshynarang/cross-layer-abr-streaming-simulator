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Replace all bracketed placeholders and prompts with your own project details. Keep explanations brief. Total time across slides 1–7 is 5 minutes, including the demonstration. Slide 8 is for reference during questions. Logo source: https://mitwpu.edu.in/uploads/images/MIT-WPU-logo-1.webp. Introduce only the title and team;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65 seconds. Replace all bracketed placeholders and prompts with your own project details. Keep explanations brief. Total time across slides 1–7 is 5 minutes, including the demonstration. Slide 8 is for reference during questions. Prepare the project before the timer starts. Keep the demo to about one minute. Keep a screenshot or short recording ready as a backup, and identify it as recorded evidence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Backup slide.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0375C"/>
                </a:solidFill>
                <a:latin typeface="Arial"/>
              </a:rPr>
              <a:t>Cross-Layer Delay-Gradient ABR Streaming Simulator with Dynamic XOR FEC &amp; Audio-First Survival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Page 1 of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02020"/>
                </a:solidFill>
                <a:latin typeface="Arial"/>
              </a:rPr>
              <a:t>Mahi Sanghani – 1262242807     Lakshy Narang – 1262242935</a:t>
            </a:r>
          </a:p>
          <a:p>
            <a:pPr algn="ctr"/>
            <a:r>
              <a:rPr sz="1300" b="0">
                <a:solidFill>
                  <a:srgbClr val="202020"/>
                </a:solidFill>
                <a:latin typeface="Arial"/>
              </a:rPr>
              <a:t>Aniket Chaudhari – 1262243379     Soniya Jhadav – 1262243503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202020"/>
                </a:solidFill>
                <a:latin typeface="Arial"/>
              </a:rPr>
              <a:t>Group 14   Panel K   Batch 2 and 3</a:t>
            </a:r>
          </a:p>
          <a:p>
            <a:pPr algn="ctr"/>
            <a:r>
              <a:rPr sz="1400" b="0">
                <a:solidFill>
                  <a:srgbClr val="202020"/>
                </a:solidFill>
                <a:latin typeface="Arial"/>
              </a:rPr>
              <a:t>Faculty: Dr. Uma Pujeri and Dr. Swati</a:t>
            </a:r>
          </a:p>
          <a:p>
            <a:pPr algn="ctr"/>
            <a:r>
              <a:rPr sz="1400" b="0">
                <a:solidFill>
                  <a:srgbClr val="202020"/>
                </a:solidFill>
                <a:latin typeface="Arial"/>
              </a:rPr>
              <a:t>Academic Year: 2026–2027</a:t>
            </a:r>
          </a:p>
          <a:p>
            <a:pPr algn="ctr"/>
            <a:r>
              <a:rPr sz="1400" b="0">
                <a:solidFill>
                  <a:srgbClr val="202020"/>
                </a:solidFill>
                <a:latin typeface="Arial"/>
              </a:rPr>
              <a:t>Presentation date: 26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Page 2 of 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700000"/>
            <a:ext cx="8096250" cy="17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</a:rPr>
              <a:t>Gap: </a:t>
            </a:r>
            <a:r>
              <a:rPr sz="1500" b="0">
                <a:solidFill>
                  <a:srgbClr val="202020"/>
                </a:solidFill>
                <a:latin typeface="Arial"/>
              </a:rPr>
              <a:t>DASH/HLS/BBA run over TCP at the application layer and cannot tell a wireless fade (empty queue) from bufferbloat (full queue). A 100 ms Wi-Fi fade causes a panic downshift from 1080p to 240p, and TCP head-of-line blocking causes stalls [1], [2].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202020"/>
                </a:solidFill>
                <a:latin typeface="Arial"/>
              </a:rPr>
              <a:t>Who / scope: </a:t>
            </a:r>
            <a:r>
              <a:rPr sz="1500" b="0">
                <a:solidFill>
                  <a:srgbClr val="202020"/>
                </a:solidFill>
                <a:latin typeface="Arial"/>
              </a:rPr>
              <a:t>users of real-time video and audio on lossy wireless links. Raw-UDP simulator with a token-bucket and Gilbert-Elliott channel, benchmarked against BBA and rate-based DASH.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523875" y="3500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6E9D2-D950-4002-905E-A6DD5AE7B3CB}"/>
              </a:ext>
            </a:extLst>
          </p:cNvPr>
          <p:cNvSpPr>
            <a:spLocks noGrp="1"/>
          </p:cNvSpPr>
          <p:nvPr/>
        </p:nvSpPr>
        <p:spPr>
          <a:xfrm>
            <a:off x="523875" y="3950000"/>
            <a:ext cx="8096250" cy="22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6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</a:rPr>
              <a:t>1. </a:t>
            </a:r>
            <a:r>
              <a:rPr sz="1500" b="0">
                <a:solidFill>
                  <a:srgbClr val="202020"/>
                </a:solidFill>
                <a:latin typeface="Arial"/>
              </a:rPr>
              <a:t>Classify loss cause using D_queue = RTT − RTT_min (25 ms threshold); under wireless loss ≥ 3% hold 720p and add 20% XOR FEC [3], [4].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02020"/>
                </a:solidFill>
                <a:latin typeface="Arial"/>
              </a:rPr>
              <a:t>2. </a:t>
            </a:r>
            <a:r>
              <a:rPr sz="1500" b="0">
                <a:solidFill>
                  <a:srgbClr val="202020"/>
                </a:solidFill>
                <a:latin typeface="Arial"/>
              </a:rPr>
              <a:t>Recover a 3-packet burst in 0 RTT using a 2D D×k interleaver, and finish a 60 s multi-regime trace with 0 stalls [6].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02020"/>
                </a:solidFill>
                <a:latin typeface="Arial"/>
              </a:rPr>
              <a:t>3. </a:t>
            </a:r>
            <a:r>
              <a:rPr sz="1500" b="0">
                <a:solidFill>
                  <a:srgbClr val="202020"/>
                </a:solidFill>
                <a:latin typeface="Arial"/>
              </a:rPr>
              <a:t>Keep 100% audio continuity (video freeze + 3× audio redundancy) at &gt; 20% loss.</a:t>
            </a: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Page 3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523875" y="4558500"/>
            <a:ext cx="8096250" cy="169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4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02020"/>
                </a:solidFill>
                <a:latin typeface="Arial"/>
              </a:rPr>
              <a:t>Tools: </a:t>
            </a:r>
            <a:r>
              <a:rPr sz="1300" b="0">
                <a:solidFill>
                  <a:srgbClr val="202020"/>
                </a:solidFill>
                <a:latin typeface="Arial"/>
              </a:rPr>
              <a:t>Python 3.10+ (socket, struct, threading), Mininet with tc netem/tbf, Wireshark + Lua dissector, Matplotlib, http.server dashboard.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02020"/>
                </a:solidFill>
                <a:latin typeface="Arial"/>
              </a:rPr>
              <a:t>Protocols: </a:t>
            </a:r>
            <a:r>
              <a:rPr sz="1300" b="0">
                <a:solidFill>
                  <a:srgbClr val="202020"/>
                </a:solidFill>
                <a:latin typeface="Arial"/>
              </a:rPr>
              <a:t>raw UDP with 16-byte RTP-like header (!HIBBBBHI) [5]; RFC 5109 XOR FEC [6]; 32-byte RTCP-style feedback every 100 ms.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02020"/>
                </a:solidFill>
                <a:latin typeface="Arial"/>
              </a:rPr>
              <a:t>Addressing: </a:t>
            </a:r>
            <a:r>
              <a:rPr sz="1300" b="0">
                <a:solidFill>
                  <a:srgbClr val="202020"/>
                </a:solidFill>
                <a:latin typeface="Arial"/>
              </a:rPr>
              <a:t>127.0.0.1 – Server :19503, Channel proxy :19501, Client :19502, Web dashboard :8080.</a:t>
            </a:r>
          </a:p>
        </p:txBody>
      </p:sp>
      <p:pic>
        <p:nvPicPr>
          <p:cNvPr id="7" name="Picture 6" descr="11e7266c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00000"/>
            <a:ext cx="8096250" cy="3238500"/>
          </a:xfrm>
          <a:prstGeom prst="rect">
            <a:avLst/>
          </a:prstGeom>
          <a:ln w="9525">
            <a:solidFill>
              <a:srgbClr val="A0A8B8"/>
            </a:solidFill>
          </a:ln>
        </p:spPr>
      </p:pic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Page 4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6265A-7667-4F74-BB20-92A5B1B71102}"/>
              </a:ext>
            </a:extLst>
          </p:cNvPr>
          <p:cNvSpPr>
            <a:spLocks noGrp="1"/>
          </p:cNvSpPr>
          <p:nvPr/>
        </p:nvSpPr>
        <p:spPr>
          <a:xfrm>
            <a:off x="523875" y="4620000"/>
            <a:ext cx="8096250" cy="163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4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02020"/>
                </a:solidFill>
                <a:latin typeface="Arial"/>
              </a:rPr>
              <a:t>Implementation: </a:t>
            </a:r>
            <a:r>
              <a:rPr sz="1300" b="0">
                <a:solidFill>
                  <a:srgbClr val="202020"/>
                </a:solidFill>
                <a:latin typeface="Arial"/>
              </a:rPr>
              <a:t>protocol.py, fec_engine.py, network_channel.py, abr_controller.py, streaming_node.py, benchmark.py.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02020"/>
                </a:solidFill>
                <a:latin typeface="Arial"/>
              </a:rPr>
              <a:t>Working: </a:t>
            </a:r>
            <a:r>
              <a:rPr sz="1300" b="0">
                <a:solidFill>
                  <a:srgbClr val="202020"/>
                </a:solidFill>
                <a:latin typeface="Arial"/>
              </a:rPr>
              <a:t>server adds XOR parity and interleaves → proxy shapes and drops → client classifies the loss and repairs it in 0 RTT. D_queue ≤ 25 ms and loss ≥ 3% → wireless (720p + 20% FEC); D_queue &gt; 25 ms → downshift.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02020"/>
                </a:solidFill>
                <a:latin typeface="Arial"/>
              </a:rPr>
              <a:t>Troubleshooting: </a:t>
            </a:r>
            <a:r>
              <a:rPr sz="1300" b="0">
                <a:solidFill>
                  <a:srgbClr val="202020"/>
                </a:solidFill>
                <a:latin typeface="Arial"/>
              </a:rPr>
              <a:t>unequal packet lengths broke XOR; fixed by zero-padding and restoring the true size from the header (TC-03 bit-exact).</a:t>
            </a:r>
          </a:p>
        </p:txBody>
      </p:sp>
      <p:pic>
        <p:nvPicPr>
          <p:cNvPr id="7" name="Picture 6" descr="73720ea3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08" y="1200000"/>
            <a:ext cx="7615384" cy="3300000"/>
          </a:xfrm>
          <a:prstGeom prst="rect">
            <a:avLst/>
          </a:prstGeom>
          <a:ln w="9525">
            <a:solidFill>
              <a:srgbClr val="A0A8B8"/>
            </a:solidFill>
          </a:ln>
        </p:spPr>
      </p:pic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Page 5 of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10CA8-AA41-4067-AE19-358C75D267F6}"/>
              </a:ext>
            </a:extLst>
          </p:cNvPr>
          <p:cNvSpPr>
            <a:spLocks noGrp="1"/>
          </p:cNvSpPr>
          <p:nvPr/>
        </p:nvSpPr>
        <p:spPr>
          <a:xfrm>
            <a:off x="523875" y="3390929"/>
            <a:ext cx="8096250" cy="28590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4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</a:rPr>
              <a:t>Test: </a:t>
            </a:r>
            <a:r>
              <a:rPr sz="1350" b="0">
                <a:solidFill>
                  <a:srgbClr val="202020"/>
                </a:solidFill>
                <a:latin typeface="Arial"/>
              </a:rPr>
              <a:t>60 s trace – clear → 8.5% Markov fade → bufferbloat (1.55 Mbps, 120 ms) → 26% outage → recovery; vs BBA and rate-based DASH; TC-01 to TC-06.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202020"/>
                </a:solidFill>
                <a:latin typeface="Arial"/>
              </a:rPr>
              <a:t>Expected: </a:t>
            </a:r>
            <a:r>
              <a:rPr sz="1350" b="0">
                <a:solidFill>
                  <a:srgbClr val="202020"/>
                </a:solidFill>
                <a:latin typeface="Arial"/>
              </a:rPr>
              <a:t>hold HD under wireless loss, drain the queue before tail-drop, keep audio alive, no stalls.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202020"/>
                </a:solidFill>
                <a:latin typeface="Arial"/>
              </a:rPr>
              <a:t>Observed: </a:t>
            </a:r>
            <a:r>
              <a:rPr sz="1350" b="0">
                <a:solidFill>
                  <a:srgbClr val="202020"/>
                </a:solidFill>
                <a:latin typeface="Arial"/>
              </a:rPr>
              <a:t>0 stalls vs 6 (16.70 s) in BBA; 2,346.7 kbps; D_queue 11.4 ms; residual loss 0.9% (from 8.4%); audio 100%; QoE +128.40 vs +32.68 (BBA) and +63.05 (rate-based) [1], [2].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202020"/>
                </a:solidFill>
                <a:latin typeface="Arial"/>
              </a:rPr>
              <a:t>Objectives achieved: </a:t>
            </a:r>
            <a:r>
              <a:rPr sz="1350" b="0">
                <a:solidFill>
                  <a:srgbClr val="202020"/>
                </a:solidFill>
                <a:latin typeface="Arial"/>
              </a:rPr>
              <a:t>all 3 – TC-03/04 (3/3 burst recovery), TC-06 (audio), benchmark (0 stalls).</a:t>
            </a:r>
          </a:p>
        </p:txBody>
      </p:sp>
      <p:pic>
        <p:nvPicPr>
          <p:cNvPr id="7" name="Picture 6" descr="results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00000"/>
            <a:ext cx="8096250" cy="2040929"/>
          </a:xfrm>
          <a:prstGeom prst="rect">
            <a:avLst/>
          </a:prstGeom>
          <a:ln w="9525">
            <a:solidFill>
              <a:srgbClr val="A0A8B8"/>
            </a:solidFill>
          </a:ln>
        </p:spPr>
      </p:pic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Page 6 of 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DD762-53EC-4E66-840B-4BC66B5F54C7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Function to demonstrate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0DFDA-9D38-4110-9E96-AA8B9885772D}"/>
              </a:ext>
            </a:extLst>
          </p:cNvPr>
          <p:cNvSpPr>
            <a:spLocks noGrp="1"/>
          </p:cNvSpPr>
          <p:nvPr/>
        </p:nvSpPr>
        <p:spPr>
          <a:xfrm>
            <a:off x="523875" y="1800000"/>
            <a:ext cx="8096250" cy="4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202020"/>
                </a:solidFill>
                <a:latin typeface="Arial"/>
              </a:rPr>
              <a:t>Wireless loss is not congestion: the classifier holds 720p and heals drops with XOR FEC in 0 RTT.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1F47A-2B1A-4750-8E3C-EC82A2551A9A}"/>
              </a:ext>
            </a:extLst>
          </p:cNvPr>
          <p:cNvSpPr>
            <a:spLocks noGrp="1"/>
          </p:cNvSpPr>
          <p:nvPr/>
        </p:nvSpPr>
        <p:spPr>
          <a:xfrm>
            <a:off x="523875" y="4600000"/>
            <a:ext cx="8096250" cy="11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400"/>
              </a:spcAft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02020"/>
                </a:solidFill>
                <a:latin typeface="Arial"/>
              </a:rPr>
              <a:t>1. </a:t>
            </a:r>
            <a:r>
              <a:rPr sz="1300" b="0">
                <a:solidFill>
                  <a:srgbClr val="202020"/>
                </a:solidFill>
                <a:latin typeface="Arial"/>
              </a:rPr>
              <a:t>Launch: python3 web_dashboard.py, open http://127.0.0.1:8080 (Tab 1).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02020"/>
                </a:solidFill>
                <a:latin typeface="Arial"/>
              </a:rPr>
              <a:t>2. </a:t>
            </a:r>
            <a:r>
              <a:rPr sz="1300" b="0">
                <a:solidFill>
                  <a:srgbClr val="202020"/>
                </a:solidFill>
                <a:latin typeface="Arial"/>
              </a:rPr>
              <a:t>Set loss to 8.5% (Gilbert-Elliott): D_queue ≈ 0 ms, so 720p + 20% FEC is held.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02020"/>
                </a:solidFill>
                <a:latin typeface="Arial"/>
              </a:rPr>
              <a:t>3. </a:t>
            </a:r>
            <a:r>
              <a:rPr sz="1300" b="0">
                <a:solidFill>
                  <a:srgbClr val="202020"/>
                </a:solidFill>
                <a:latin typeface="Arial"/>
              </a:rPr>
              <a:t>Tab 2: drop P1, rebuild P1 = parity ⊕ P0 ⊕ P2 ⊕ P3; then burst: 1D 0/3 vs 2D 3/3.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31393-1A58-4193-B896-64977C05E623}"/>
              </a:ext>
            </a:extLst>
          </p:cNvPr>
          <p:cNvSpPr>
            <a:spLocks noGrp="1"/>
          </p:cNvSpPr>
          <p:nvPr/>
        </p:nvSpPr>
        <p:spPr>
          <a:xfrm>
            <a:off x="523875" y="5700000"/>
            <a:ext cx="8096250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02020"/>
                </a:solidFill>
                <a:latin typeface="Arial"/>
              </a:rPr>
              <a:t>Success criterion: </a:t>
            </a:r>
            <a:r>
              <a:rPr sz="1300" b="0">
                <a:solidFill>
                  <a:srgbClr val="202020"/>
                </a:solidFill>
                <a:latin typeface="Arial"/>
              </a:rPr>
              <a:t>no downshift to 240p, 0 stalls, dropped packet restored bit-exact, burst recovered 3/3.</a:t>
            </a:r>
          </a:p>
        </p:txBody>
      </p:sp>
      <p:pic>
        <p:nvPicPr>
          <p:cNvPr id="9" name="Picture 8" descr="demo_classif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46" y="2300000"/>
            <a:ext cx="3968750" cy="1950000"/>
          </a:xfrm>
          <a:prstGeom prst="rect">
            <a:avLst/>
          </a:prstGeom>
          <a:ln w="9525">
            <a:solidFill>
              <a:srgbClr val="A0A8B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024746" y="4270000"/>
            <a:ext cx="3968750" cy="2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Fig. 4: 8.5% loss, D_queue = 0 ms → wireless loss</a:t>
            </a:r>
          </a:p>
        </p:txBody>
      </p:sp>
      <p:pic>
        <p:nvPicPr>
          <p:cNvPr id="11" name="Picture 10" descr="demo_x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496" y="2300000"/>
            <a:ext cx="2875757" cy="1950000"/>
          </a:xfrm>
          <a:prstGeom prst="rect">
            <a:avLst/>
          </a:prstGeom>
          <a:ln w="9525">
            <a:solidFill>
              <a:srgbClr val="A0A8B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243496" y="4270000"/>
            <a:ext cx="2875757" cy="2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Arial"/>
              </a:rPr>
              <a:t>Fig. 5: P1 dropped, rebuilt in 0 RTT</a:t>
            </a:r>
          </a:p>
        </p:txBody>
      </p:sp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3241-AA33-4209-9B79-B06A3DA63F8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Page 7 of 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1250000"/>
            <a:ext cx="8096250" cy="20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600"/>
              </a:spcAft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020"/>
                </a:solidFill>
                <a:latin typeface="Arial"/>
              </a:rPr>
              <a:t>Outcome: </a:t>
            </a:r>
            <a:r>
              <a:rPr sz="1500" b="0">
                <a:solidFill>
                  <a:srgbClr val="202020"/>
                </a:solidFill>
                <a:latin typeface="Arial"/>
              </a:rPr>
              <a:t>0 stalls (0.00 s) vs 16.70 s in BBA; 89.3% of lost packets reconstructed; QoE +103.6% over rate-based.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02020"/>
                </a:solidFill>
                <a:latin typeface="Arial"/>
              </a:rPr>
              <a:t>Application: </a:t>
            </a:r>
            <a:r>
              <a:rPr sz="1500" b="0">
                <a:solidFill>
                  <a:srgbClr val="202020"/>
                </a:solidFill>
                <a:latin typeface="Arial"/>
              </a:rPr>
              <a:t>WebRTC video conferencing, drone FPV and cloud gaming.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02020"/>
                </a:solidFill>
                <a:latin typeface="Arial"/>
              </a:rPr>
              <a:t>Limitation: </a:t>
            </a:r>
            <a:r>
              <a:rPr sz="1500" b="0">
                <a:solidFill>
                  <a:srgbClr val="202020"/>
                </a:solidFill>
                <a:latin typeface="Arial"/>
              </a:rPr>
              <a:t>tested on loopback and Mininet, not live 5G; single parity repairs one loss per group.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02020"/>
                </a:solidFill>
                <a:latin typeface="Arial"/>
              </a:rPr>
              <a:t>Future scope: </a:t>
            </a:r>
            <a:r>
              <a:rPr sz="1500" b="0">
                <a:solidFill>
                  <a:srgbClr val="202020"/>
                </a:solidFill>
                <a:latin typeface="Arial"/>
              </a:rPr>
              <a:t>QUIC unreliable datagrams (RFC 9221) with learned interleaver stride.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99F11-8A11-408E-A37B-1864BB168263}"/>
              </a:ext>
            </a:extLst>
          </p:cNvPr>
          <p:cNvSpPr>
            <a:spLocks noGrp="1"/>
          </p:cNvSpPr>
          <p:nvPr/>
        </p:nvSpPr>
        <p:spPr>
          <a:xfrm>
            <a:off x="523875" y="3450000"/>
            <a:ext cx="8096250" cy="17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300"/>
              </a:spcAft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02020"/>
                </a:solidFill>
                <a:latin typeface="Arial"/>
              </a:rPr>
              <a:t>Team contributions: 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02020"/>
                </a:solidFill>
                <a:latin typeface="Arial"/>
              </a:rPr>
              <a:t>Mahi Sanghani – protocol.py header/RTCP, Wireshark capture and dissector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02020"/>
                </a:solidFill>
                <a:latin typeface="Arial"/>
              </a:rPr>
              <a:t>Lakshy Narang – fec_engine.py (XOR, interleaver), streaming_node.py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02020"/>
                </a:solidFill>
                <a:latin typeface="Arial"/>
              </a:rPr>
              <a:t>Aniket Chaudhari – abr_controller.py, network_channel.py, Mininet topology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02020"/>
                </a:solidFill>
                <a:latin typeface="Arial"/>
              </a:rPr>
              <a:t>Soniya Jhadav – benchmark.py, web dashboard, test_simulator.py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0ECB7-8E0C-4D51-855A-3F114DB4BE40}"/>
              </a:ext>
            </a:extLst>
          </p:cNvPr>
          <p:cNvSpPr>
            <a:spLocks noGrp="1"/>
          </p:cNvSpPr>
          <p:nvPr/>
        </p:nvSpPr>
        <p:spPr>
          <a:xfrm>
            <a:off x="523875" y="5300000"/>
            <a:ext cx="8096250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02020"/>
                </a:solidFill>
                <a:latin typeface="Arial"/>
              </a:rPr>
              <a:t>AI use: </a:t>
            </a:r>
            <a:r>
              <a:rPr sz="1300" b="0">
                <a:solidFill>
                  <a:srgbClr val="202020"/>
                </a:solidFill>
                <a:latin typeface="Arial"/>
              </a:rPr>
              <a:t>Claude/Gemini for documentation structure, equation syntax and slide scripting only; algorithms, code and benchmarks were written and verified by the team.</a:t>
            </a: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2300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 – Page 8 of 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 noGrp="1"/>
          </p:cNvSpPr>
          <p:nvPr/>
        </p:nvSpPr>
        <p:spPr>
          <a:xfrm>
            <a:off x="523875" y="1250000"/>
            <a:ext cx="8096250" cy="4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500"/>
              </a:spcAft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02020"/>
                </a:solidFill>
                <a:latin typeface="Arial"/>
              </a:rPr>
              <a:t>[1] H. Mao, R. Netravali, and M. Alizadeh, "Neural adaptive video streaming with Pensieve," in Proc. ACM SIGCOMM, Aug. 2017, pp. 197–210, doi: 10.1145/3098822.3098843.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02020"/>
                </a:solidFill>
                <a:latin typeface="Arial"/>
              </a:rPr>
              <a:t>[2] T.-Y. Huang, R. Johari, N. McKeown, M. Trunnell, and M. Watson, "A buffer-based approach to rate adaptation: Evidence from a large video streaming service," in Proc. ACM SIGCOMM, Aug. 2014, pp. 187–198, doi: 10.1145/2619282.2619288.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02020"/>
                </a:solidFill>
                <a:latin typeface="Arial"/>
              </a:rPr>
              <a:t>[3] C. P. Fu and S. C. Liew, "TCP Veno: TCP enhancement for transmission over wireless access networks," IEEE J. Sel. Areas Commun., vol. 21, no. 2, pp. 216–228, Feb. 2003, doi: 10.1109/JSAC.2002.807336.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02020"/>
                </a:solidFill>
                <a:latin typeface="Arial"/>
              </a:rPr>
              <a:t>[4] N. Cardwell, Y. Cheng, C. S. Gunn, S. H. Yeganeh, and V. Jacobson, "BBR: Congestion-based congestion control," ACM Queue, vol. 14, no. 5, pp. 20–53, Oct. 2016, doi: 10.1145/3012426.3022184.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02020"/>
                </a:solidFill>
                <a:latin typeface="Arial"/>
              </a:rPr>
              <a:t>[5] H. Schulzrinne, S. Casner, R. Frederick, and V. Jacobson, "RTP: A transport protocol for real-time applications," IETF RFC 3550, Jul. 2003, doi: 10.17487/RFC3550.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02020"/>
                </a:solidFill>
                <a:latin typeface="Arial"/>
              </a:rPr>
              <a:t>[6] A. Li, "RTP payload format for generic forward error correction," IETF RFC 5109, Dec. 2007, doi: 10.17487/RFC5109.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02020"/>
                </a:solidFill>
                <a:latin typeface="Arial"/>
              </a:rPr>
              <a:t>[7] J. F. Kurose and K. W. Ross, Computer Networking: A Top-Down Approach, 8th ed. Boston, MA, USA: Pearson, 2021.</a:t>
            </a: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</Words>
  <Application>Microsoft Office PowerPoint</Application>
  <DocSecurity>0</DocSecurity>
  <PresentationFormat>On-screen Show (4:3)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Swati</cp:lastModifiedBy>
  <cp:revision>1</cp:revision>
  <dcterms:created xsi:type="dcterms:W3CDTF">2026-10-14T10:56:48Z</dcterms:created>
  <dcterms:modified xsi:type="dcterms:W3CDTF">2026-10-15T04:36:00Z</dcterms:modified>
</cp:coreProperties>
</file>